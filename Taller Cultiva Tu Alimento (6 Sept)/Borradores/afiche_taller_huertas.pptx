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ACA6"/>
    <a:srgbClr val="60A4E8"/>
    <a:srgbClr val="FFFFFF"/>
    <a:srgbClr val="E97132"/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104CFD-54DD-F116-04C4-AD13B022FD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90304F-0D8D-FA22-700C-2B1A4C4D42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pt-B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4E79A7-9C22-2749-0A65-D7E10F66C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74CBE-8182-49C2-A464-53EF683F2104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7360F8-ECA5-BD82-B851-F65C76F05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7038F5-74F8-11A9-48AA-75138D175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AFD28-81D3-42A0-A5C0-E9DAEBAB5E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5642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46E2F9-3D4D-A09F-AF03-64975A9AF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pt-B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F53CFA-1A5D-FAC9-9819-D7971F62B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pt-B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2A2329-F5DC-272F-36DD-45DC93DD0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74CBE-8182-49C2-A464-53EF683F2104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7392B0-4794-F642-A797-908818958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BCF1E3-1492-1578-65C6-75CDD09C6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AFD28-81D3-42A0-A5C0-E9DAEBAB5E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7056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8311E0-D1AF-93EC-04AD-61E3F38E2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pt-B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B6E2F6-10B9-D7C5-C5DF-58F7E81E6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E9CC26-D98D-453B-3C9B-EDE3AC7C4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74CBE-8182-49C2-A464-53EF683F2104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282B9E-E834-0DA9-9171-F785E2C22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A20A2F-F510-20BA-5B0C-87038D280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AFD28-81D3-42A0-A5C0-E9DAEBAB5E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0191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2B648F-0E5E-51F3-5C67-CBAF003BA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pt-B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73A648-ED70-AA00-3773-782A2A12D0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pt-B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1AD9D66-4C35-E3EC-44A5-8F3E19F91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pt-B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B6C750-BF4A-32E5-DCB9-562ABA8BB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74CBE-8182-49C2-A464-53EF683F2104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16C96F-CE11-4767-B0E0-A9A6EDB5B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95157A0-7803-9131-11D3-B42E26006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AFD28-81D3-42A0-A5C0-E9DAEBAB5E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1236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9F7A8A-546D-7FEE-5DCB-95F7C9F99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pt-B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914615C-994E-E8BB-B544-5E39710CC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BB76267-0E7A-BB1B-34A3-9D79BF0DB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pt-B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DA68E-308B-CC58-9044-417081395F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C4AB879-A051-B7E2-2449-66944156F6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pt-B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8C50000-B80C-6B92-9F50-7D5E6329A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74CBE-8182-49C2-A464-53EF683F2104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2E93CD1-9A20-B0D5-80DD-9CC0AB86A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8ABA0ED-B47D-FA3B-0B97-6719FE9BE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AFD28-81D3-42A0-A5C0-E9DAEBAB5E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5087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DEDCA5-F12B-148D-93BD-EA0395888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pt-B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735EB9C-3791-BBFF-B3DE-72962E3F9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74CBE-8182-49C2-A464-53EF683F2104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87805D5-C146-15BF-E309-FDF3EF6C1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7D43709-6D44-A09F-207B-4EC6DA56A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AFD28-81D3-42A0-A5C0-E9DAEBAB5E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5664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6D440D8-FD82-3CE5-15A6-C5C0EA946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74CBE-8182-49C2-A464-53EF683F2104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8EC1B2F-71A2-DD6A-4907-75F9E1E9C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66A4B80-EE41-B57E-9FD0-DDD802ED4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AFD28-81D3-42A0-A5C0-E9DAEBAB5E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1290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D50118-2570-958B-649E-1DD6CDB5F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pt-B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E79D87-9C04-8AA8-C0F8-B4A9A4DCE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pt-B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40D0AF8-F66D-63DF-D23C-EA3D2B950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790182E-21F6-2158-075E-6D4213174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74CBE-8182-49C2-A464-53EF683F2104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9F0941F-22B0-BE2C-66BA-284528417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36C1D43-47F0-F0A0-DB83-21EA21E57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AFD28-81D3-42A0-A5C0-E9DAEBAB5E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7542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A7CDF-CB8D-F9E4-9CD7-688C0892D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pt-B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A5EBEEB-E7C9-1CF7-0684-3DCC9BC138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3F6D49-A51E-7A92-2E4C-3DAB656978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F44FB9C-0FE7-5D17-2374-DC07D528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74CBE-8182-49C2-A464-53EF683F2104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8A02F3A-B2C8-2F1B-2D87-2A1E3E989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058D71-29F9-CE28-47B8-78A99381B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AFD28-81D3-42A0-A5C0-E9DAEBAB5E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8090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7DF268-50BC-F30C-76CB-97F2FA7BB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pt-B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8179155-A3DE-9194-4BBD-D6C97D966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pt-B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4964AD-44FE-20D7-2E0E-D84A2B14E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74CBE-8182-49C2-A464-53EF683F2104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839EEE-B1E9-63C6-D232-74E67B542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0D0A94-7773-CEC2-1548-5B54D83F4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AFD28-81D3-42A0-A5C0-E9DAEBAB5E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8560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55760F2-BDB5-0B73-E346-45D1A43205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pt-B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5A85E7C-B1A4-AC1C-42F2-F91920CDF9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pt-B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824A5F-BCE9-D4DF-A1A8-81B7E15BE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74CBE-8182-49C2-A464-53EF683F2104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8F87AD-F935-F89D-314B-9F5681AE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828FA5-79A8-C132-050C-92DA0A625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AFD28-81D3-42A0-A5C0-E9DAEBAB5E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4536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81117ED-9632-6023-329F-ED8EFD8EA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pt-B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97BEBC-1577-362E-F8B4-AEB1A72D3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pt-B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E95ACF-8500-8A1A-B9A9-F2C8DDB975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674CBE-8182-49C2-A464-53EF683F2104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18DC6E-8631-5171-07A1-A384FEB027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AFDAF8-0273-6EBD-D522-210FD50FD1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2AFD28-81D3-42A0-A5C0-E9DAEBAB5E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1709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8B82590-5229-3599-0D4E-2BF3C81611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103" y="0"/>
            <a:ext cx="49157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142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A2CE9-BB6D-FA9B-B5EC-0FC42263E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A8795CE-9DB3-1596-1732-D37168C6A7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103" y="0"/>
            <a:ext cx="4915793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F88CFB2-5851-5448-8F37-B8BE0F0120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33" b="8977"/>
          <a:stretch>
            <a:fillRect/>
          </a:stretch>
        </p:blipFill>
        <p:spPr>
          <a:xfrm>
            <a:off x="3628878" y="-10890"/>
            <a:ext cx="4915792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6AEF098-274C-C96D-E8DE-F2C7696022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3280" y="1281535"/>
            <a:ext cx="4358640" cy="245040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620D011-246A-3FF9-0290-4D14C4C825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983" y="98288"/>
            <a:ext cx="1776033" cy="72758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884B4E49-97FF-4E0B-6289-7396BF30B173}"/>
              </a:ext>
            </a:extLst>
          </p:cNvPr>
          <p:cNvSpPr txBox="1"/>
          <p:nvPr/>
        </p:nvSpPr>
        <p:spPr>
          <a:xfrm>
            <a:off x="3638105" y="769173"/>
            <a:ext cx="4915791" cy="707886"/>
          </a:xfrm>
          <a:prstGeom prst="rect">
            <a:avLst/>
          </a:prstGeom>
          <a:solidFill>
            <a:srgbClr val="A3ACA6">
              <a:alpha val="14118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Jornada intensiva de </a:t>
            </a:r>
            <a:r>
              <a:rPr lang="pt-BR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sustentabilidad</a:t>
            </a:r>
            <a:r>
              <a:rPr lang="pt-B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 </a:t>
            </a:r>
            <a:r>
              <a:rPr lang="pt-BR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regeneración</a:t>
            </a:r>
            <a:endParaRPr lang="pt-BR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B02D02C-A221-54A9-6AE3-BAF21DD02D38}"/>
              </a:ext>
            </a:extLst>
          </p:cNvPr>
          <p:cNvSpPr txBox="1"/>
          <p:nvPr/>
        </p:nvSpPr>
        <p:spPr>
          <a:xfrm>
            <a:off x="3638102" y="1411746"/>
            <a:ext cx="4915791" cy="1446550"/>
          </a:xfrm>
          <a:prstGeom prst="rect">
            <a:avLst/>
          </a:prstGeom>
          <a:solidFill>
            <a:srgbClr val="A3ACA6">
              <a:alpha val="14118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pt-BR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CULTIVA TU ALIMENTO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B0EB62D-0E8C-A17C-684D-092088A78BF1}"/>
              </a:ext>
            </a:extLst>
          </p:cNvPr>
          <p:cNvSpPr txBox="1"/>
          <p:nvPr/>
        </p:nvSpPr>
        <p:spPr>
          <a:xfrm>
            <a:off x="3811133" y="2884968"/>
            <a:ext cx="4547955" cy="923330"/>
          </a:xfrm>
          <a:prstGeom prst="rect">
            <a:avLst/>
          </a:prstGeom>
          <a:solidFill>
            <a:srgbClr val="A3ACA6">
              <a:alpha val="14118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  <a:highlight>
                  <a:srgbClr val="008000"/>
                </a:highlight>
              </a:rPr>
              <a:t>Un </a:t>
            </a:r>
            <a:r>
              <a:rPr lang="pt-BR" dirty="0" err="1">
                <a:solidFill>
                  <a:schemeClr val="bg1"/>
                </a:solidFill>
                <a:highlight>
                  <a:srgbClr val="008000"/>
                </a:highlight>
              </a:rPr>
              <a:t>día</a:t>
            </a:r>
            <a:r>
              <a:rPr lang="pt-BR" dirty="0">
                <a:solidFill>
                  <a:schemeClr val="bg1"/>
                </a:solidFill>
                <a:highlight>
                  <a:srgbClr val="008000"/>
                </a:highlight>
              </a:rPr>
              <a:t> completo para </a:t>
            </a:r>
            <a:r>
              <a:rPr lang="pt-BR" dirty="0" err="1">
                <a:solidFill>
                  <a:schemeClr val="bg1"/>
                </a:solidFill>
                <a:highlight>
                  <a:srgbClr val="008000"/>
                </a:highlight>
              </a:rPr>
              <a:t>activar</a:t>
            </a:r>
            <a:r>
              <a:rPr lang="pt-BR" dirty="0">
                <a:solidFill>
                  <a:schemeClr val="bg1"/>
                </a:solidFill>
                <a:highlight>
                  <a:srgbClr val="008000"/>
                </a:highlight>
              </a:rPr>
              <a:t> tu </a:t>
            </a:r>
            <a:r>
              <a:rPr lang="pt-BR" dirty="0" err="1">
                <a:solidFill>
                  <a:schemeClr val="bg1"/>
                </a:solidFill>
                <a:highlight>
                  <a:srgbClr val="008000"/>
                </a:highlight>
              </a:rPr>
              <a:t>huerta</a:t>
            </a:r>
            <a:r>
              <a:rPr lang="pt-BR" dirty="0">
                <a:solidFill>
                  <a:schemeClr val="bg1"/>
                </a:solidFill>
                <a:highlight>
                  <a:srgbClr val="008000"/>
                </a:highlight>
              </a:rPr>
              <a:t>. </a:t>
            </a:r>
          </a:p>
          <a:p>
            <a:pPr algn="ctr"/>
            <a:r>
              <a:rPr lang="pt-BR" dirty="0">
                <a:solidFill>
                  <a:schemeClr val="bg1"/>
                </a:solidFill>
                <a:highlight>
                  <a:srgbClr val="008000"/>
                </a:highlight>
              </a:rPr>
              <a:t>Te </a:t>
            </a:r>
            <a:r>
              <a:rPr lang="pt-BR" dirty="0" err="1">
                <a:solidFill>
                  <a:schemeClr val="bg1"/>
                </a:solidFill>
                <a:highlight>
                  <a:srgbClr val="008000"/>
                </a:highlight>
              </a:rPr>
              <a:t>vas</a:t>
            </a:r>
            <a:r>
              <a:rPr lang="pt-BR" dirty="0">
                <a:solidFill>
                  <a:schemeClr val="bg1"/>
                </a:solidFill>
                <a:highlight>
                  <a:srgbClr val="008000"/>
                </a:highlight>
              </a:rPr>
              <a:t> </a:t>
            </a:r>
            <a:r>
              <a:rPr lang="pt-BR" dirty="0" err="1">
                <a:solidFill>
                  <a:schemeClr val="bg1"/>
                </a:solidFill>
                <a:highlight>
                  <a:srgbClr val="008000"/>
                </a:highlight>
              </a:rPr>
              <a:t>con</a:t>
            </a:r>
            <a:r>
              <a:rPr lang="pt-BR" dirty="0">
                <a:solidFill>
                  <a:schemeClr val="bg1"/>
                </a:solidFill>
                <a:highlight>
                  <a:srgbClr val="008000"/>
                </a:highlight>
              </a:rPr>
              <a:t> tu </a:t>
            </a:r>
            <a:r>
              <a:rPr lang="pt-BR" dirty="0" err="1">
                <a:solidFill>
                  <a:schemeClr val="bg1"/>
                </a:solidFill>
                <a:highlight>
                  <a:srgbClr val="008000"/>
                </a:highlight>
              </a:rPr>
              <a:t>almácigo</a:t>
            </a:r>
            <a:r>
              <a:rPr lang="pt-BR" dirty="0">
                <a:solidFill>
                  <a:schemeClr val="bg1"/>
                </a:solidFill>
                <a:highlight>
                  <a:srgbClr val="008000"/>
                </a:highlight>
              </a:rPr>
              <a:t> </a:t>
            </a:r>
            <a:r>
              <a:rPr lang="pt-BR" dirty="0" err="1">
                <a:solidFill>
                  <a:schemeClr val="bg1"/>
                </a:solidFill>
                <a:highlight>
                  <a:srgbClr val="008000"/>
                </a:highlight>
              </a:rPr>
              <a:t>sembrado</a:t>
            </a:r>
            <a:r>
              <a:rPr lang="pt-BR" dirty="0">
                <a:solidFill>
                  <a:schemeClr val="bg1"/>
                </a:solidFill>
                <a:highlight>
                  <a:srgbClr val="008000"/>
                </a:highlight>
              </a:rPr>
              <a:t> y </a:t>
            </a:r>
            <a:r>
              <a:rPr lang="pt-BR" dirty="0" err="1">
                <a:solidFill>
                  <a:schemeClr val="bg1"/>
                </a:solidFill>
                <a:highlight>
                  <a:srgbClr val="008000"/>
                </a:highlight>
              </a:rPr>
              <a:t>con</a:t>
            </a:r>
            <a:r>
              <a:rPr lang="pt-BR" dirty="0">
                <a:solidFill>
                  <a:schemeClr val="bg1"/>
                </a:solidFill>
                <a:highlight>
                  <a:srgbClr val="008000"/>
                </a:highlight>
              </a:rPr>
              <a:t> </a:t>
            </a:r>
            <a:r>
              <a:rPr lang="pt-BR" dirty="0" err="1">
                <a:solidFill>
                  <a:schemeClr val="bg1"/>
                </a:solidFill>
                <a:highlight>
                  <a:srgbClr val="008000"/>
                </a:highlight>
              </a:rPr>
              <a:t>un</a:t>
            </a:r>
            <a:r>
              <a:rPr lang="pt-BR" dirty="0">
                <a:solidFill>
                  <a:schemeClr val="bg1"/>
                </a:solidFill>
                <a:highlight>
                  <a:srgbClr val="008000"/>
                </a:highlight>
              </a:rPr>
              <a:t> </a:t>
            </a:r>
            <a:r>
              <a:rPr lang="pt-BR" dirty="0" err="1">
                <a:solidFill>
                  <a:schemeClr val="bg1"/>
                </a:solidFill>
                <a:highlight>
                  <a:srgbClr val="008000"/>
                </a:highlight>
              </a:rPr>
              <a:t>plan</a:t>
            </a:r>
            <a:r>
              <a:rPr lang="pt-BR" dirty="0">
                <a:solidFill>
                  <a:schemeClr val="bg1"/>
                </a:solidFill>
                <a:highlight>
                  <a:srgbClr val="008000"/>
                </a:highlight>
              </a:rPr>
              <a:t> claro para tu </a:t>
            </a:r>
            <a:r>
              <a:rPr lang="pt-BR" dirty="0" err="1">
                <a:solidFill>
                  <a:schemeClr val="bg1"/>
                </a:solidFill>
                <a:highlight>
                  <a:srgbClr val="008000"/>
                </a:highlight>
              </a:rPr>
              <a:t>espacio</a:t>
            </a:r>
            <a:r>
              <a:rPr lang="pt-BR" dirty="0">
                <a:solidFill>
                  <a:schemeClr val="bg1"/>
                </a:solidFill>
                <a:highlight>
                  <a:srgbClr val="008000"/>
                </a:highlight>
              </a:rPr>
              <a:t>.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E911A6F-3275-E4F6-AA7E-49E496D6429F}"/>
              </a:ext>
            </a:extLst>
          </p:cNvPr>
          <p:cNvSpPr txBox="1"/>
          <p:nvPr/>
        </p:nvSpPr>
        <p:spPr>
          <a:xfrm>
            <a:off x="5207983" y="6440073"/>
            <a:ext cx="2191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chemeClr val="bg1"/>
                </a:solidFill>
              </a:rPr>
              <a:t>Cupos</a:t>
            </a:r>
            <a:r>
              <a:rPr lang="pt-BR" b="1" dirty="0">
                <a:solidFill>
                  <a:schemeClr val="bg1"/>
                </a:solidFill>
              </a:rPr>
              <a:t> limitados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9D4E562-B6F0-0408-0F43-AEAD61F3B15C}"/>
              </a:ext>
            </a:extLst>
          </p:cNvPr>
          <p:cNvSpPr txBox="1"/>
          <p:nvPr/>
        </p:nvSpPr>
        <p:spPr>
          <a:xfrm>
            <a:off x="3897087" y="5827217"/>
            <a:ext cx="4462001" cy="523220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algn="ctr"/>
            <a:r>
              <a:rPr lang="pt-BR" sz="1600" dirty="0">
                <a:solidFill>
                  <a:schemeClr val="bg1"/>
                </a:solidFill>
              </a:rPr>
              <a:t>Domingo 6 de </a:t>
            </a:r>
            <a:r>
              <a:rPr lang="pt-BR" sz="1600" dirty="0" err="1">
                <a:solidFill>
                  <a:schemeClr val="bg1"/>
                </a:solidFill>
              </a:rPr>
              <a:t>Septiembre</a:t>
            </a:r>
            <a:r>
              <a:rPr lang="pt-BR" sz="1600" dirty="0">
                <a:solidFill>
                  <a:schemeClr val="bg1"/>
                </a:solidFill>
              </a:rPr>
              <a:t> </a:t>
            </a:r>
            <a:r>
              <a:rPr lang="es-ES" sz="1600" dirty="0">
                <a:solidFill>
                  <a:schemeClr val="bg1"/>
                </a:solidFill>
              </a:rPr>
              <a:t>10:30 a 18:00 </a:t>
            </a:r>
            <a:r>
              <a:rPr lang="es-ES" sz="1600" dirty="0" err="1">
                <a:solidFill>
                  <a:schemeClr val="bg1"/>
                </a:solidFill>
              </a:rPr>
              <a:t>hrs</a:t>
            </a:r>
            <a:endParaRPr lang="es-ES" sz="1600" dirty="0">
              <a:solidFill>
                <a:schemeClr val="bg1"/>
              </a:solidFill>
            </a:endParaRPr>
          </a:p>
          <a:p>
            <a:pPr algn="ctr"/>
            <a:r>
              <a:rPr lang="es-ES" sz="1200" dirty="0">
                <a:solidFill>
                  <a:schemeClr val="bg1"/>
                </a:solidFill>
              </a:rPr>
              <a:t>Día completo $13.000 incluye empanada + materiales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282CFB4-5BDC-6C80-4285-516A55C45B2A}"/>
              </a:ext>
            </a:extLst>
          </p:cNvPr>
          <p:cNvSpPr txBox="1"/>
          <p:nvPr/>
        </p:nvSpPr>
        <p:spPr>
          <a:xfrm>
            <a:off x="3996715" y="4090157"/>
            <a:ext cx="4232886" cy="1569660"/>
          </a:xfrm>
          <a:prstGeom prst="rect">
            <a:avLst/>
          </a:prstGeom>
          <a:solidFill>
            <a:srgbClr val="E97132">
              <a:alpha val="89020"/>
            </a:srgbClr>
          </a:solidFill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1000" b="1"/>
            </a:lvl1pPr>
          </a:lstStyle>
          <a:p>
            <a:pPr algn="l"/>
            <a:r>
              <a:rPr lang="pt-BR" sz="1200" dirty="0" err="1">
                <a:solidFill>
                  <a:schemeClr val="bg1"/>
                </a:solidFill>
              </a:rPr>
              <a:t>Mañana</a:t>
            </a:r>
            <a:r>
              <a:rPr lang="pt-BR" sz="1200" dirty="0">
                <a:solidFill>
                  <a:schemeClr val="bg1"/>
                </a:solidFill>
              </a:rPr>
              <a:t> (AM): </a:t>
            </a:r>
            <a:r>
              <a:rPr lang="pt-BR" sz="1200" b="0" dirty="0">
                <a:solidFill>
                  <a:schemeClr val="bg1"/>
                </a:solidFill>
              </a:rPr>
              <a:t>Visita guiada por </a:t>
            </a:r>
            <a:r>
              <a:rPr lang="pt-BR" sz="1200" b="0" dirty="0" err="1">
                <a:solidFill>
                  <a:schemeClr val="bg1"/>
                </a:solidFill>
              </a:rPr>
              <a:t>la</a:t>
            </a:r>
            <a:r>
              <a:rPr lang="pt-BR" sz="1200" b="0" dirty="0">
                <a:solidFill>
                  <a:schemeClr val="bg1"/>
                </a:solidFill>
              </a:rPr>
              <a:t> </a:t>
            </a:r>
            <a:r>
              <a:rPr lang="pt-BR" sz="1200" b="0" dirty="0" err="1">
                <a:solidFill>
                  <a:schemeClr val="bg1"/>
                </a:solidFill>
              </a:rPr>
              <a:t>huerta</a:t>
            </a:r>
            <a:r>
              <a:rPr lang="pt-BR" sz="1200" b="0" dirty="0">
                <a:solidFill>
                  <a:schemeClr val="bg1"/>
                </a:solidFill>
              </a:rPr>
              <a:t> agroecológica, </a:t>
            </a:r>
            <a:r>
              <a:rPr lang="pt-BR" sz="1200" b="0" dirty="0" err="1">
                <a:solidFill>
                  <a:schemeClr val="bg1"/>
                </a:solidFill>
              </a:rPr>
              <a:t>bioconstrucción</a:t>
            </a:r>
            <a:r>
              <a:rPr lang="pt-BR" sz="1200" b="0" dirty="0">
                <a:solidFill>
                  <a:schemeClr val="bg1"/>
                </a:solidFill>
              </a:rPr>
              <a:t>, bosque </a:t>
            </a:r>
            <a:r>
              <a:rPr lang="pt-BR" sz="1200" b="0" dirty="0" err="1">
                <a:solidFill>
                  <a:schemeClr val="bg1"/>
                </a:solidFill>
              </a:rPr>
              <a:t>comestible</a:t>
            </a:r>
            <a:r>
              <a:rPr lang="pt-BR" sz="1200" b="0" dirty="0">
                <a:solidFill>
                  <a:schemeClr val="bg1"/>
                </a:solidFill>
              </a:rPr>
              <a:t>, </a:t>
            </a:r>
            <a:r>
              <a:rPr lang="pt-BR" sz="1200" b="0" dirty="0" err="1">
                <a:solidFill>
                  <a:schemeClr val="bg1"/>
                </a:solidFill>
              </a:rPr>
              <a:t>tecnologías</a:t>
            </a:r>
            <a:r>
              <a:rPr lang="pt-BR" sz="1200" b="0" dirty="0">
                <a:solidFill>
                  <a:schemeClr val="bg1"/>
                </a:solidFill>
              </a:rPr>
              <a:t> resilientes de agua/</a:t>
            </a:r>
            <a:r>
              <a:rPr lang="pt-BR" sz="1200" b="0" dirty="0" err="1">
                <a:solidFill>
                  <a:schemeClr val="bg1"/>
                </a:solidFill>
              </a:rPr>
              <a:t>energía</a:t>
            </a:r>
            <a:r>
              <a:rPr lang="pt-BR" sz="1200" b="0" dirty="0">
                <a:solidFill>
                  <a:schemeClr val="bg1"/>
                </a:solidFill>
              </a:rPr>
              <a:t> y </a:t>
            </a:r>
            <a:r>
              <a:rPr lang="pt-BR" sz="1200" b="0" dirty="0" err="1">
                <a:solidFill>
                  <a:schemeClr val="bg1"/>
                </a:solidFill>
              </a:rPr>
              <a:t>compostaje</a:t>
            </a:r>
            <a:r>
              <a:rPr lang="pt-BR" sz="1200" b="0" dirty="0">
                <a:solidFill>
                  <a:schemeClr val="bg1"/>
                </a:solidFill>
              </a:rPr>
              <a:t>.</a:t>
            </a:r>
          </a:p>
          <a:p>
            <a:pPr algn="l"/>
            <a:r>
              <a:rPr lang="pt-BR" sz="1200" dirty="0" err="1">
                <a:solidFill>
                  <a:schemeClr val="bg1"/>
                </a:solidFill>
              </a:rPr>
              <a:t>Almuerzo</a:t>
            </a:r>
            <a:r>
              <a:rPr lang="pt-BR" sz="1200" dirty="0">
                <a:solidFill>
                  <a:schemeClr val="bg1"/>
                </a:solidFill>
              </a:rPr>
              <a:t>: </a:t>
            </a:r>
            <a:r>
              <a:rPr lang="pt-BR" sz="1200" b="0" dirty="0">
                <a:solidFill>
                  <a:schemeClr val="bg1"/>
                </a:solidFill>
              </a:rPr>
              <a:t>Empanada </a:t>
            </a:r>
            <a:r>
              <a:rPr lang="pt-BR" sz="1200" b="0" dirty="0" err="1">
                <a:solidFill>
                  <a:schemeClr val="bg1"/>
                </a:solidFill>
              </a:rPr>
              <a:t>en</a:t>
            </a:r>
            <a:r>
              <a:rPr lang="pt-BR" sz="1200" b="0" dirty="0">
                <a:solidFill>
                  <a:schemeClr val="bg1"/>
                </a:solidFill>
              </a:rPr>
              <a:t> base a plantas y </a:t>
            </a:r>
            <a:r>
              <a:rPr lang="pt-BR" sz="1200" b="0" dirty="0" err="1">
                <a:solidFill>
                  <a:schemeClr val="bg1"/>
                </a:solidFill>
              </a:rPr>
              <a:t>bebestible</a:t>
            </a:r>
            <a:r>
              <a:rPr lang="pt-BR" sz="1200" b="0" dirty="0">
                <a:solidFill>
                  <a:schemeClr val="bg1"/>
                </a:solidFill>
              </a:rPr>
              <a:t>.</a:t>
            </a:r>
          </a:p>
          <a:p>
            <a:pPr algn="l"/>
            <a:r>
              <a:rPr lang="pt-BR" sz="1200" dirty="0">
                <a:solidFill>
                  <a:schemeClr val="bg1"/>
                </a:solidFill>
              </a:rPr>
              <a:t>Tarde (PM): </a:t>
            </a:r>
            <a:r>
              <a:rPr lang="pt-BR" sz="1200" b="0" dirty="0" err="1">
                <a:solidFill>
                  <a:schemeClr val="bg1"/>
                </a:solidFill>
              </a:rPr>
              <a:t>Taller</a:t>
            </a:r>
            <a:r>
              <a:rPr lang="pt-BR" sz="1200" b="0" dirty="0">
                <a:solidFill>
                  <a:schemeClr val="bg1"/>
                </a:solidFill>
              </a:rPr>
              <a:t> </a:t>
            </a:r>
            <a:r>
              <a:rPr lang="pt-BR" sz="1200" b="0" dirty="0" err="1">
                <a:solidFill>
                  <a:schemeClr val="bg1"/>
                </a:solidFill>
              </a:rPr>
              <a:t>práctico</a:t>
            </a:r>
            <a:r>
              <a:rPr lang="pt-BR" sz="1200" b="0" dirty="0">
                <a:solidFill>
                  <a:schemeClr val="bg1"/>
                </a:solidFill>
              </a:rPr>
              <a:t> de cultivo, </a:t>
            </a:r>
            <a:r>
              <a:rPr lang="pt-BR" sz="1200" b="0" dirty="0" err="1">
                <a:solidFill>
                  <a:schemeClr val="bg1"/>
                </a:solidFill>
              </a:rPr>
              <a:t>sustratos</a:t>
            </a:r>
            <a:r>
              <a:rPr lang="pt-BR" sz="1200" b="0" dirty="0">
                <a:solidFill>
                  <a:schemeClr val="bg1"/>
                </a:solidFill>
              </a:rPr>
              <a:t> y </a:t>
            </a:r>
            <a:r>
              <a:rPr lang="pt-BR" sz="1200" b="0" dirty="0" err="1">
                <a:solidFill>
                  <a:schemeClr val="bg1"/>
                </a:solidFill>
              </a:rPr>
              <a:t>semillas</a:t>
            </a:r>
            <a:r>
              <a:rPr lang="pt-BR" sz="1200" b="0" dirty="0">
                <a:solidFill>
                  <a:schemeClr val="bg1"/>
                </a:solidFill>
              </a:rPr>
              <a:t> (</a:t>
            </a:r>
            <a:r>
              <a:rPr lang="pt-BR" sz="1200" b="0" dirty="0" err="1">
                <a:solidFill>
                  <a:schemeClr val="bg1"/>
                </a:solidFill>
              </a:rPr>
              <a:t>incluye</a:t>
            </a:r>
            <a:r>
              <a:rPr lang="pt-BR" sz="1200" b="0" dirty="0">
                <a:solidFill>
                  <a:schemeClr val="bg1"/>
                </a:solidFill>
              </a:rPr>
              <a:t> </a:t>
            </a:r>
            <a:r>
              <a:rPr lang="pt-BR" sz="1200" b="0" dirty="0" err="1">
                <a:solidFill>
                  <a:schemeClr val="bg1"/>
                </a:solidFill>
              </a:rPr>
              <a:t>siembra</a:t>
            </a:r>
            <a:r>
              <a:rPr lang="pt-BR" sz="1200" b="0" dirty="0">
                <a:solidFill>
                  <a:schemeClr val="bg1"/>
                </a:solidFill>
              </a:rPr>
              <a:t> de tu </a:t>
            </a:r>
            <a:r>
              <a:rPr lang="pt-BR" sz="1200" b="0" dirty="0" err="1">
                <a:solidFill>
                  <a:schemeClr val="bg1"/>
                </a:solidFill>
              </a:rPr>
              <a:t>propio</a:t>
            </a:r>
            <a:r>
              <a:rPr lang="pt-BR" sz="1200" b="0" dirty="0">
                <a:solidFill>
                  <a:schemeClr val="bg1"/>
                </a:solidFill>
              </a:rPr>
              <a:t> </a:t>
            </a:r>
            <a:r>
              <a:rPr lang="pt-BR" sz="1200" b="0" dirty="0" err="1">
                <a:solidFill>
                  <a:schemeClr val="bg1"/>
                </a:solidFill>
              </a:rPr>
              <a:t>almácigo</a:t>
            </a:r>
            <a:r>
              <a:rPr lang="pt-BR" sz="1200" b="0" dirty="0">
                <a:solidFill>
                  <a:schemeClr val="bg1"/>
                </a:solidFill>
              </a:rPr>
              <a:t>).</a:t>
            </a:r>
          </a:p>
          <a:p>
            <a:pPr algn="l"/>
            <a:r>
              <a:rPr lang="pt-BR" sz="1200" dirty="0" err="1">
                <a:solidFill>
                  <a:schemeClr val="bg1"/>
                </a:solidFill>
              </a:rPr>
              <a:t>Cierre</a:t>
            </a:r>
            <a:r>
              <a:rPr lang="pt-BR" sz="1200" dirty="0">
                <a:solidFill>
                  <a:schemeClr val="bg1"/>
                </a:solidFill>
              </a:rPr>
              <a:t>: </a:t>
            </a:r>
            <a:r>
              <a:rPr lang="pt-BR" sz="1200" b="0" dirty="0">
                <a:solidFill>
                  <a:schemeClr val="bg1"/>
                </a:solidFill>
              </a:rPr>
              <a:t>Círculo de </a:t>
            </a:r>
            <a:r>
              <a:rPr lang="pt-BR" sz="1200" b="0" dirty="0" err="1">
                <a:solidFill>
                  <a:schemeClr val="bg1"/>
                </a:solidFill>
              </a:rPr>
              <a:t>palabras</a:t>
            </a:r>
            <a:r>
              <a:rPr lang="pt-BR" sz="1200" b="0" dirty="0">
                <a:solidFill>
                  <a:schemeClr val="bg1"/>
                </a:solidFill>
              </a:rPr>
              <a:t>, flautas </a:t>
            </a:r>
            <a:r>
              <a:rPr lang="pt-BR" sz="1200" b="0" dirty="0" err="1">
                <a:solidFill>
                  <a:schemeClr val="bg1"/>
                </a:solidFill>
              </a:rPr>
              <a:t>del</a:t>
            </a:r>
            <a:r>
              <a:rPr lang="pt-BR" sz="1200" b="0" dirty="0">
                <a:solidFill>
                  <a:schemeClr val="bg1"/>
                </a:solidFill>
              </a:rPr>
              <a:t> mundo y </a:t>
            </a:r>
            <a:r>
              <a:rPr lang="pt-BR" sz="1200" b="0" dirty="0" err="1">
                <a:solidFill>
                  <a:schemeClr val="bg1"/>
                </a:solidFill>
              </a:rPr>
              <a:t>ceremonia</a:t>
            </a:r>
            <a:r>
              <a:rPr lang="pt-BR" sz="1200" b="0" dirty="0">
                <a:solidFill>
                  <a:schemeClr val="bg1"/>
                </a:solidFill>
              </a:rPr>
              <a:t> de </a:t>
            </a:r>
            <a:r>
              <a:rPr lang="pt-BR" sz="1200" b="0" dirty="0" err="1">
                <a:solidFill>
                  <a:schemeClr val="bg1"/>
                </a:solidFill>
              </a:rPr>
              <a:t>gratitud</a:t>
            </a:r>
            <a:r>
              <a:rPr lang="pt-BR" sz="1200" b="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2996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A9850-6B89-2410-8B0B-D854130D3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C8803B1-C671-8DB8-DB0A-347E92B7B1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103" y="0"/>
            <a:ext cx="4915793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8B8C862-9522-7A67-E1E7-9C98CC3A27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07" b="8977"/>
          <a:stretch>
            <a:fillRect/>
          </a:stretch>
        </p:blipFill>
        <p:spPr>
          <a:xfrm>
            <a:off x="3628878" y="-72"/>
            <a:ext cx="4915792" cy="543606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D69C3C6-0F72-CCBD-2427-F13DFEEF96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84" r="17249" b="8420"/>
          <a:stretch>
            <a:fillRect/>
          </a:stretch>
        </p:blipFill>
        <p:spPr>
          <a:xfrm>
            <a:off x="3622862" y="3497962"/>
            <a:ext cx="4925018" cy="336002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44A9A95-5BDF-0919-1946-FFF4ADD3D7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983" y="110000"/>
            <a:ext cx="1776033" cy="72758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D2342260-1FA7-24B7-76B0-E8B1FC388AB6}"/>
              </a:ext>
            </a:extLst>
          </p:cNvPr>
          <p:cNvSpPr txBox="1"/>
          <p:nvPr/>
        </p:nvSpPr>
        <p:spPr>
          <a:xfrm>
            <a:off x="3638105" y="977520"/>
            <a:ext cx="4915791" cy="369332"/>
          </a:xfrm>
          <a:prstGeom prst="rect">
            <a:avLst/>
          </a:prstGeom>
          <a:solidFill>
            <a:srgbClr val="A3ACA6">
              <a:alpha val="14118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pt-BR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A3ACA6"/>
                </a:highlight>
              </a:rPr>
              <a:t>Jornada intensiva </a:t>
            </a:r>
            <a:r>
              <a:rPr lang="pt-BR" b="1" spc="-15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A3ACA6"/>
                </a:highlight>
              </a:rPr>
              <a:t>en</a:t>
            </a:r>
            <a:r>
              <a:rPr lang="pt-BR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A3ACA6"/>
                </a:highlight>
              </a:rPr>
              <a:t> </a:t>
            </a:r>
            <a:r>
              <a:rPr lang="pt-BR" b="1" spc="-15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A3ACA6"/>
                </a:highlight>
              </a:rPr>
              <a:t>sustentabilidad</a:t>
            </a:r>
            <a:r>
              <a:rPr lang="pt-BR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A3ACA6"/>
                </a:highlight>
              </a:rPr>
              <a:t> y </a:t>
            </a:r>
            <a:r>
              <a:rPr lang="pt-BR" b="1" spc="-15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A3ACA6"/>
                </a:highlight>
              </a:rPr>
              <a:t>regeneración</a:t>
            </a:r>
            <a:endParaRPr lang="pt-BR" b="1" spc="-1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A3ACA6"/>
              </a:highlight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89A83F1-782E-8696-529C-B85922D9A913}"/>
              </a:ext>
            </a:extLst>
          </p:cNvPr>
          <p:cNvSpPr txBox="1"/>
          <p:nvPr/>
        </p:nvSpPr>
        <p:spPr>
          <a:xfrm>
            <a:off x="3638103" y="1162039"/>
            <a:ext cx="4915791" cy="2123658"/>
          </a:xfrm>
          <a:prstGeom prst="rect">
            <a:avLst/>
          </a:prstGeom>
          <a:solidFill>
            <a:srgbClr val="A3ACA6">
              <a:alpha val="14118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pt-BR" sz="6600" b="1" spc="-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CULTIVA TU ALIMENTO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770E896-7A6B-A830-9E99-C3F2659FC91E}"/>
              </a:ext>
            </a:extLst>
          </p:cNvPr>
          <p:cNvSpPr txBox="1"/>
          <p:nvPr/>
        </p:nvSpPr>
        <p:spPr>
          <a:xfrm>
            <a:off x="3667854" y="3212746"/>
            <a:ext cx="4835033" cy="584775"/>
          </a:xfrm>
          <a:prstGeom prst="rect">
            <a:avLst/>
          </a:prstGeom>
          <a:solidFill>
            <a:srgbClr val="A3ACA6">
              <a:alpha val="14118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pt-BR" sz="1600" dirty="0">
                <a:solidFill>
                  <a:schemeClr val="bg1"/>
                </a:solidFill>
                <a:highlight>
                  <a:srgbClr val="008000"/>
                </a:highlight>
              </a:rPr>
              <a:t>Un </a:t>
            </a:r>
            <a:r>
              <a:rPr lang="pt-BR" sz="1600" dirty="0" err="1">
                <a:solidFill>
                  <a:schemeClr val="bg1"/>
                </a:solidFill>
                <a:highlight>
                  <a:srgbClr val="008000"/>
                </a:highlight>
              </a:rPr>
              <a:t>día</a:t>
            </a:r>
            <a:r>
              <a:rPr lang="pt-BR" sz="1600" dirty="0">
                <a:solidFill>
                  <a:schemeClr val="bg1"/>
                </a:solidFill>
                <a:highlight>
                  <a:srgbClr val="008000"/>
                </a:highlight>
              </a:rPr>
              <a:t> para </a:t>
            </a:r>
            <a:r>
              <a:rPr lang="pt-BR" sz="1600" dirty="0" err="1">
                <a:solidFill>
                  <a:schemeClr val="bg1"/>
                </a:solidFill>
                <a:highlight>
                  <a:srgbClr val="008000"/>
                </a:highlight>
              </a:rPr>
              <a:t>activar</a:t>
            </a:r>
            <a:r>
              <a:rPr lang="pt-BR" sz="1600" dirty="0">
                <a:solidFill>
                  <a:schemeClr val="bg1"/>
                </a:solidFill>
                <a:highlight>
                  <a:srgbClr val="008000"/>
                </a:highlight>
              </a:rPr>
              <a:t> tu </a:t>
            </a:r>
            <a:r>
              <a:rPr lang="pt-BR" sz="1600" dirty="0" err="1">
                <a:solidFill>
                  <a:schemeClr val="bg1"/>
                </a:solidFill>
                <a:highlight>
                  <a:srgbClr val="008000"/>
                </a:highlight>
              </a:rPr>
              <a:t>huerta</a:t>
            </a:r>
            <a:r>
              <a:rPr lang="pt-BR" sz="1600" dirty="0">
                <a:solidFill>
                  <a:schemeClr val="bg1"/>
                </a:solidFill>
                <a:highlight>
                  <a:srgbClr val="008000"/>
                </a:highlight>
              </a:rPr>
              <a:t>: </a:t>
            </a:r>
            <a:r>
              <a:rPr lang="pt-BR" sz="1600" dirty="0" err="1">
                <a:solidFill>
                  <a:schemeClr val="bg1"/>
                </a:solidFill>
                <a:highlight>
                  <a:srgbClr val="008000"/>
                </a:highlight>
              </a:rPr>
              <a:t>llévate</a:t>
            </a:r>
            <a:r>
              <a:rPr lang="pt-BR" sz="1600" dirty="0">
                <a:solidFill>
                  <a:schemeClr val="bg1"/>
                </a:solidFill>
                <a:highlight>
                  <a:srgbClr val="008000"/>
                </a:highlight>
              </a:rPr>
              <a:t> tu </a:t>
            </a:r>
            <a:r>
              <a:rPr lang="pt-BR" sz="1600" dirty="0" err="1">
                <a:solidFill>
                  <a:schemeClr val="bg1"/>
                </a:solidFill>
                <a:highlight>
                  <a:srgbClr val="008000"/>
                </a:highlight>
              </a:rPr>
              <a:t>almácigo</a:t>
            </a:r>
            <a:r>
              <a:rPr lang="pt-BR" sz="1600" dirty="0">
                <a:solidFill>
                  <a:schemeClr val="bg1"/>
                </a:solidFill>
                <a:highlight>
                  <a:srgbClr val="008000"/>
                </a:highlight>
              </a:rPr>
              <a:t> </a:t>
            </a:r>
            <a:r>
              <a:rPr lang="pt-BR" sz="1600" dirty="0" err="1">
                <a:solidFill>
                  <a:schemeClr val="bg1"/>
                </a:solidFill>
                <a:highlight>
                  <a:srgbClr val="008000"/>
                </a:highlight>
              </a:rPr>
              <a:t>sembrado</a:t>
            </a:r>
            <a:r>
              <a:rPr lang="pt-BR" sz="1600" dirty="0">
                <a:solidFill>
                  <a:schemeClr val="bg1"/>
                </a:solidFill>
                <a:highlight>
                  <a:srgbClr val="008000"/>
                </a:highlight>
              </a:rPr>
              <a:t> y </a:t>
            </a:r>
            <a:r>
              <a:rPr lang="pt-BR" sz="1600" dirty="0" err="1">
                <a:solidFill>
                  <a:schemeClr val="bg1"/>
                </a:solidFill>
                <a:highlight>
                  <a:srgbClr val="008000"/>
                </a:highlight>
              </a:rPr>
              <a:t>un</a:t>
            </a:r>
            <a:r>
              <a:rPr lang="pt-BR" sz="1600" dirty="0">
                <a:solidFill>
                  <a:schemeClr val="bg1"/>
                </a:solidFill>
                <a:highlight>
                  <a:srgbClr val="008000"/>
                </a:highlight>
              </a:rPr>
              <a:t> </a:t>
            </a:r>
            <a:r>
              <a:rPr lang="pt-BR" sz="1600" dirty="0" err="1">
                <a:solidFill>
                  <a:schemeClr val="bg1"/>
                </a:solidFill>
                <a:highlight>
                  <a:srgbClr val="008000"/>
                </a:highlight>
              </a:rPr>
              <a:t>plan</a:t>
            </a:r>
            <a:r>
              <a:rPr lang="pt-BR" sz="1600" dirty="0">
                <a:solidFill>
                  <a:schemeClr val="bg1"/>
                </a:solidFill>
                <a:highlight>
                  <a:srgbClr val="008000"/>
                </a:highlight>
              </a:rPr>
              <a:t> claro para cultivar.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7465947-F4CB-4423-AD85-35057A76B027}"/>
              </a:ext>
            </a:extLst>
          </p:cNvPr>
          <p:cNvSpPr txBox="1"/>
          <p:nvPr/>
        </p:nvSpPr>
        <p:spPr>
          <a:xfrm>
            <a:off x="4524907" y="6400467"/>
            <a:ext cx="3243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chemeClr val="bg1"/>
                </a:solidFill>
              </a:rPr>
              <a:t>Inscríbete</a:t>
            </a:r>
            <a:r>
              <a:rPr lang="pt-BR" b="1" dirty="0">
                <a:solidFill>
                  <a:schemeClr val="bg1"/>
                </a:solidFill>
              </a:rPr>
              <a:t> - </a:t>
            </a:r>
            <a:r>
              <a:rPr lang="pt-BR" b="1" dirty="0" err="1">
                <a:solidFill>
                  <a:schemeClr val="bg1"/>
                </a:solidFill>
              </a:rPr>
              <a:t>Cupos</a:t>
            </a:r>
            <a:r>
              <a:rPr lang="pt-BR" b="1" dirty="0">
                <a:solidFill>
                  <a:schemeClr val="bg1"/>
                </a:solidFill>
              </a:rPr>
              <a:t> limitados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72B1CD0-2FF8-A654-CAE1-6980EF5FEF89}"/>
              </a:ext>
            </a:extLst>
          </p:cNvPr>
          <p:cNvSpPr txBox="1"/>
          <p:nvPr/>
        </p:nvSpPr>
        <p:spPr>
          <a:xfrm>
            <a:off x="3897087" y="5850367"/>
            <a:ext cx="4462001" cy="492443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Domingo 6 de </a:t>
            </a:r>
            <a:r>
              <a:rPr lang="pt-BR" sz="1400" dirty="0" err="1">
                <a:solidFill>
                  <a:schemeClr val="bg1"/>
                </a:solidFill>
              </a:rPr>
              <a:t>Septiembre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es-ES" sz="1400" dirty="0">
                <a:solidFill>
                  <a:schemeClr val="bg1"/>
                </a:solidFill>
              </a:rPr>
              <a:t>10:30 a 18:00 </a:t>
            </a:r>
            <a:r>
              <a:rPr lang="es-ES" sz="1400" dirty="0" err="1">
                <a:solidFill>
                  <a:schemeClr val="bg1"/>
                </a:solidFill>
              </a:rPr>
              <a:t>hrs</a:t>
            </a:r>
            <a:r>
              <a:rPr lang="es-ES" sz="1400" dirty="0">
                <a:solidFill>
                  <a:schemeClr val="bg1"/>
                </a:solidFill>
              </a:rPr>
              <a:t> (Talagante)</a:t>
            </a:r>
          </a:p>
          <a:p>
            <a:pPr algn="ctr"/>
            <a:r>
              <a:rPr lang="es-ES" sz="1200" dirty="0">
                <a:solidFill>
                  <a:schemeClr val="bg1"/>
                </a:solidFill>
              </a:rPr>
              <a:t>Día completo $13.000 incluye empanada + materiales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3C07087-EFE3-74DB-0FBB-01437AEA1213}"/>
              </a:ext>
            </a:extLst>
          </p:cNvPr>
          <p:cNvSpPr txBox="1"/>
          <p:nvPr/>
        </p:nvSpPr>
        <p:spPr>
          <a:xfrm>
            <a:off x="3625667" y="3736483"/>
            <a:ext cx="4922213" cy="1200329"/>
          </a:xfrm>
          <a:prstGeom prst="rect">
            <a:avLst/>
          </a:prstGeom>
          <a:solidFill>
            <a:srgbClr val="60A4E8">
              <a:alpha val="34902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pt-BR" sz="1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Mañana</a:t>
            </a:r>
            <a:r>
              <a:rPr lang="pt-BR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(AM): 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Visita guiada por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huerta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agroecológica,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bioconstrucción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bosque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comestible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tecnologías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resilientes de agua/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energía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compostaje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algn="ctr"/>
            <a:r>
              <a:rPr lang="pt-BR" sz="1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Almuerzo</a:t>
            </a:r>
            <a:r>
              <a:rPr lang="pt-BR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Empanada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base a plantas y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bebestible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algn="ctr"/>
            <a:r>
              <a:rPr lang="pt-BR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Tarde (PM):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Taller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práctico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cultivo,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sustratos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semillas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incluye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siembra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tu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propio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almácigo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+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ceremonia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gratitud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1895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68751-C1F5-422D-4A5D-88A34222F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9CB9C5D-6CB3-04B1-01E9-DFB6BCDE51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103" y="0"/>
            <a:ext cx="4915793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900B278-E62D-DBA0-D93E-7A50B123E3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07" b="8977"/>
          <a:stretch>
            <a:fillRect/>
          </a:stretch>
        </p:blipFill>
        <p:spPr>
          <a:xfrm>
            <a:off x="3653345" y="0"/>
            <a:ext cx="4915792" cy="543606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9D85864-014F-6A70-8EEF-9EBE3B9BD9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84" r="17249" b="8420"/>
          <a:stretch>
            <a:fillRect/>
          </a:stretch>
        </p:blipFill>
        <p:spPr>
          <a:xfrm>
            <a:off x="3622862" y="3497962"/>
            <a:ext cx="4925018" cy="336002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6F3D637-7449-75C9-A0F7-2D4851D9FF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983" y="110000"/>
            <a:ext cx="1776033" cy="72758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FDC8709-B6B1-04AE-9612-A9D7A5843ADA}"/>
              </a:ext>
            </a:extLst>
          </p:cNvPr>
          <p:cNvSpPr txBox="1"/>
          <p:nvPr/>
        </p:nvSpPr>
        <p:spPr>
          <a:xfrm>
            <a:off x="3638105" y="977520"/>
            <a:ext cx="4915791" cy="369332"/>
          </a:xfrm>
          <a:prstGeom prst="rect">
            <a:avLst/>
          </a:prstGeom>
          <a:solidFill>
            <a:srgbClr val="A3ACA6">
              <a:alpha val="14118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pt-BR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A3ACA6"/>
                </a:highlight>
              </a:rPr>
              <a:t>Jornada intensiva </a:t>
            </a:r>
            <a:r>
              <a:rPr lang="pt-BR" b="1" spc="-15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A3ACA6"/>
                </a:highlight>
              </a:rPr>
              <a:t>en</a:t>
            </a:r>
            <a:r>
              <a:rPr lang="pt-BR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A3ACA6"/>
                </a:highlight>
              </a:rPr>
              <a:t> </a:t>
            </a:r>
            <a:r>
              <a:rPr lang="pt-BR" b="1" spc="-15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A3ACA6"/>
                </a:highlight>
              </a:rPr>
              <a:t>sustentabilidad</a:t>
            </a:r>
            <a:r>
              <a:rPr lang="pt-BR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A3ACA6"/>
                </a:highlight>
              </a:rPr>
              <a:t> y </a:t>
            </a:r>
            <a:r>
              <a:rPr lang="pt-BR" b="1" spc="-15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A3ACA6"/>
                </a:highlight>
              </a:rPr>
              <a:t>regeneración</a:t>
            </a:r>
            <a:endParaRPr lang="pt-BR" b="1" spc="-1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A3ACA6"/>
              </a:highlight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0C7AAFF-5831-F412-87FC-CC6280063678}"/>
              </a:ext>
            </a:extLst>
          </p:cNvPr>
          <p:cNvSpPr txBox="1"/>
          <p:nvPr/>
        </p:nvSpPr>
        <p:spPr>
          <a:xfrm>
            <a:off x="3619652" y="1286887"/>
            <a:ext cx="4915791" cy="1600438"/>
          </a:xfrm>
          <a:prstGeom prst="rect">
            <a:avLst/>
          </a:prstGeom>
          <a:solidFill>
            <a:srgbClr val="A3ACA6">
              <a:alpha val="14118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pt-BR" sz="49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CULTIVA TU ALIMENTO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0ED0699-C741-74A9-F1B4-708B31203CF8}"/>
              </a:ext>
            </a:extLst>
          </p:cNvPr>
          <p:cNvSpPr txBox="1"/>
          <p:nvPr/>
        </p:nvSpPr>
        <p:spPr>
          <a:xfrm>
            <a:off x="3607621" y="2909289"/>
            <a:ext cx="4915790" cy="584775"/>
          </a:xfrm>
          <a:prstGeom prst="rect">
            <a:avLst/>
          </a:prstGeom>
          <a:solidFill>
            <a:srgbClr val="A3ACA6">
              <a:alpha val="14118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pt-BR" sz="1600" i="1" dirty="0">
                <a:solidFill>
                  <a:schemeClr val="bg1"/>
                </a:solidFill>
              </a:rPr>
              <a:t>Un </a:t>
            </a:r>
            <a:r>
              <a:rPr lang="pt-BR" sz="1600" i="1" dirty="0" err="1">
                <a:solidFill>
                  <a:schemeClr val="bg1"/>
                </a:solidFill>
              </a:rPr>
              <a:t>día</a:t>
            </a:r>
            <a:r>
              <a:rPr lang="pt-BR" sz="1600" i="1" dirty="0">
                <a:solidFill>
                  <a:schemeClr val="bg1"/>
                </a:solidFill>
              </a:rPr>
              <a:t> para </a:t>
            </a:r>
            <a:r>
              <a:rPr lang="pt-BR" sz="1600" i="1" dirty="0" err="1">
                <a:solidFill>
                  <a:schemeClr val="bg1"/>
                </a:solidFill>
              </a:rPr>
              <a:t>activar</a:t>
            </a:r>
            <a:r>
              <a:rPr lang="pt-BR" sz="1600" i="1" dirty="0">
                <a:solidFill>
                  <a:schemeClr val="bg1"/>
                </a:solidFill>
              </a:rPr>
              <a:t> tu </a:t>
            </a:r>
            <a:r>
              <a:rPr lang="pt-BR" sz="1600" i="1" dirty="0" err="1">
                <a:solidFill>
                  <a:schemeClr val="bg1"/>
                </a:solidFill>
              </a:rPr>
              <a:t>huerta</a:t>
            </a:r>
            <a:r>
              <a:rPr lang="pt-BR" sz="1600" i="1" dirty="0">
                <a:solidFill>
                  <a:schemeClr val="bg1"/>
                </a:solidFill>
              </a:rPr>
              <a:t>: </a:t>
            </a:r>
            <a:r>
              <a:rPr lang="pt-BR" sz="1600" i="1" dirty="0" err="1">
                <a:solidFill>
                  <a:schemeClr val="bg1"/>
                </a:solidFill>
              </a:rPr>
              <a:t>llévate</a:t>
            </a:r>
            <a:r>
              <a:rPr lang="pt-BR" sz="1600" i="1" dirty="0">
                <a:solidFill>
                  <a:schemeClr val="bg1"/>
                </a:solidFill>
              </a:rPr>
              <a:t> tu </a:t>
            </a:r>
            <a:r>
              <a:rPr lang="pt-BR" sz="1600" i="1" dirty="0" err="1">
                <a:solidFill>
                  <a:schemeClr val="bg1"/>
                </a:solidFill>
              </a:rPr>
              <a:t>almácigo</a:t>
            </a:r>
            <a:r>
              <a:rPr lang="pt-BR" sz="1600" i="1" dirty="0">
                <a:solidFill>
                  <a:schemeClr val="bg1"/>
                </a:solidFill>
              </a:rPr>
              <a:t> </a:t>
            </a:r>
            <a:r>
              <a:rPr lang="pt-BR" sz="1600" i="1" dirty="0" err="1">
                <a:solidFill>
                  <a:schemeClr val="bg1"/>
                </a:solidFill>
              </a:rPr>
              <a:t>sembrado</a:t>
            </a:r>
            <a:r>
              <a:rPr lang="pt-BR" sz="1600" i="1" dirty="0">
                <a:solidFill>
                  <a:schemeClr val="bg1"/>
                </a:solidFill>
              </a:rPr>
              <a:t> y </a:t>
            </a:r>
            <a:r>
              <a:rPr lang="pt-BR" sz="1600" i="1" dirty="0" err="1">
                <a:solidFill>
                  <a:schemeClr val="bg1"/>
                </a:solidFill>
              </a:rPr>
              <a:t>un</a:t>
            </a:r>
            <a:r>
              <a:rPr lang="pt-BR" sz="1600" i="1" dirty="0">
                <a:solidFill>
                  <a:schemeClr val="bg1"/>
                </a:solidFill>
              </a:rPr>
              <a:t> </a:t>
            </a:r>
            <a:r>
              <a:rPr lang="pt-BR" sz="1600" i="1" dirty="0" err="1">
                <a:solidFill>
                  <a:schemeClr val="bg1"/>
                </a:solidFill>
              </a:rPr>
              <a:t>plan</a:t>
            </a:r>
            <a:r>
              <a:rPr lang="pt-BR" sz="1600" i="1" dirty="0">
                <a:solidFill>
                  <a:schemeClr val="bg1"/>
                </a:solidFill>
              </a:rPr>
              <a:t> claro para cultivar.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07B58EA-F6BB-F597-00E2-9E7E0BD47911}"/>
              </a:ext>
            </a:extLst>
          </p:cNvPr>
          <p:cNvSpPr txBox="1"/>
          <p:nvPr/>
        </p:nvSpPr>
        <p:spPr>
          <a:xfrm>
            <a:off x="4524907" y="6400467"/>
            <a:ext cx="3243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chemeClr val="bg1"/>
                </a:solidFill>
              </a:rPr>
              <a:t>Inscríbete</a:t>
            </a:r>
            <a:r>
              <a:rPr lang="pt-BR" b="1" dirty="0">
                <a:solidFill>
                  <a:schemeClr val="bg1"/>
                </a:solidFill>
              </a:rPr>
              <a:t> - </a:t>
            </a:r>
            <a:r>
              <a:rPr lang="pt-BR" b="1" dirty="0" err="1">
                <a:solidFill>
                  <a:schemeClr val="bg1"/>
                </a:solidFill>
              </a:rPr>
              <a:t>Cupos</a:t>
            </a:r>
            <a:r>
              <a:rPr lang="pt-BR" b="1" dirty="0">
                <a:solidFill>
                  <a:schemeClr val="bg1"/>
                </a:solidFill>
              </a:rPr>
              <a:t> limitados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A29DFF8E-69CA-6236-A26E-D1C8C1AE0828}"/>
              </a:ext>
            </a:extLst>
          </p:cNvPr>
          <p:cNvSpPr txBox="1"/>
          <p:nvPr/>
        </p:nvSpPr>
        <p:spPr>
          <a:xfrm>
            <a:off x="3897087" y="5850367"/>
            <a:ext cx="4462001" cy="492443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Domingo 6 de </a:t>
            </a:r>
            <a:r>
              <a:rPr lang="pt-BR" sz="1400" dirty="0" err="1">
                <a:solidFill>
                  <a:schemeClr val="bg1"/>
                </a:solidFill>
              </a:rPr>
              <a:t>Septiembre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es-ES" sz="1400" dirty="0">
                <a:solidFill>
                  <a:schemeClr val="bg1"/>
                </a:solidFill>
              </a:rPr>
              <a:t>10:30 a 18:00 </a:t>
            </a:r>
            <a:r>
              <a:rPr lang="es-ES" sz="1400" dirty="0" err="1">
                <a:solidFill>
                  <a:schemeClr val="bg1"/>
                </a:solidFill>
              </a:rPr>
              <a:t>hrs</a:t>
            </a:r>
            <a:r>
              <a:rPr lang="es-ES" sz="1400" dirty="0">
                <a:solidFill>
                  <a:schemeClr val="bg1"/>
                </a:solidFill>
              </a:rPr>
              <a:t> (Talagante)</a:t>
            </a:r>
          </a:p>
          <a:p>
            <a:pPr algn="ctr"/>
            <a:r>
              <a:rPr lang="es-ES" sz="1200" dirty="0">
                <a:solidFill>
                  <a:schemeClr val="bg1"/>
                </a:solidFill>
              </a:rPr>
              <a:t>Día completo $13.000 incluye empanada + materiales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AE05BE7-790E-FDF0-014C-5D943641FA39}"/>
              </a:ext>
            </a:extLst>
          </p:cNvPr>
          <p:cNvSpPr txBox="1"/>
          <p:nvPr/>
        </p:nvSpPr>
        <p:spPr>
          <a:xfrm>
            <a:off x="3625667" y="3528139"/>
            <a:ext cx="4922213" cy="1384995"/>
          </a:xfrm>
          <a:prstGeom prst="rect">
            <a:avLst/>
          </a:prstGeom>
          <a:solidFill>
            <a:srgbClr val="60A4E8">
              <a:alpha val="34902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pt-BR" sz="1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Mañana</a:t>
            </a:r>
            <a:r>
              <a:rPr lang="pt-BR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(AM): 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Visita guiada por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huerta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agroecológica,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bioconstrucción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bosque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comestible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tecnologías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resilientes de agua/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energía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compostaje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algn="ctr"/>
            <a:r>
              <a:rPr lang="pt-BR" sz="1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Almuerzo</a:t>
            </a:r>
            <a:r>
              <a:rPr lang="pt-BR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Empanada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base a plantas y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bebestible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algn="ctr"/>
            <a:r>
              <a:rPr lang="pt-BR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Tarde (PM):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Taller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práctico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cultivo,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sustratos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semillas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incluye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siembra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tu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propio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almácigo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+ Círculo de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palabras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flautas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mundo y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ceremonia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gratitud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D153D11-E3C1-A909-86E8-B22FBF8823D2}"/>
              </a:ext>
            </a:extLst>
          </p:cNvPr>
          <p:cNvSpPr txBox="1"/>
          <p:nvPr/>
        </p:nvSpPr>
        <p:spPr>
          <a:xfrm>
            <a:off x="3627217" y="1299599"/>
            <a:ext cx="4915791" cy="1569660"/>
          </a:xfrm>
          <a:prstGeom prst="rect">
            <a:avLst/>
          </a:prstGeom>
          <a:solidFill>
            <a:srgbClr val="A3ACA6">
              <a:alpha val="14118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pt-BR" sz="48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CULTIVA TU ALIMENTO</a:t>
            </a:r>
          </a:p>
        </p:txBody>
      </p:sp>
    </p:spTree>
    <p:extLst>
      <p:ext uri="{BB962C8B-B14F-4D97-AF65-F5344CB8AC3E}">
        <p14:creationId xmlns:p14="http://schemas.microsoft.com/office/powerpoint/2010/main" val="2963525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4BC5D-A405-87D7-FAA3-08F50F0D5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A596C0B-A8B3-FF9D-D1CD-849966DB7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103" y="0"/>
            <a:ext cx="4915793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2C9CFFA-2AA8-4AB9-3CA1-AB414F475A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07" b="8977"/>
          <a:stretch>
            <a:fillRect/>
          </a:stretch>
        </p:blipFill>
        <p:spPr>
          <a:xfrm>
            <a:off x="3653345" y="0"/>
            <a:ext cx="4915792" cy="543606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105CC9D-00DC-D45D-978D-9BB8DF3851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84" r="17249" b="8420"/>
          <a:stretch>
            <a:fillRect/>
          </a:stretch>
        </p:blipFill>
        <p:spPr>
          <a:xfrm>
            <a:off x="3634151" y="3497962"/>
            <a:ext cx="4925018" cy="336002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F5DC4B2-04A3-2832-78D2-DB2D8B489C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983" y="110000"/>
            <a:ext cx="1776033" cy="72758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FB1D4C27-D893-54D3-B56A-DAEB6C83CAE6}"/>
              </a:ext>
            </a:extLst>
          </p:cNvPr>
          <p:cNvSpPr txBox="1"/>
          <p:nvPr/>
        </p:nvSpPr>
        <p:spPr>
          <a:xfrm>
            <a:off x="3638105" y="977520"/>
            <a:ext cx="4915791" cy="369332"/>
          </a:xfrm>
          <a:prstGeom prst="rect">
            <a:avLst/>
          </a:prstGeom>
          <a:solidFill>
            <a:schemeClr val="bg1">
              <a:lumMod val="50000"/>
              <a:alpha val="14118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pt-BR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A3ACA6"/>
                </a:highlight>
              </a:rPr>
              <a:t>Jornada intensiva </a:t>
            </a:r>
            <a:r>
              <a:rPr lang="pt-BR" b="1" spc="-15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A3ACA6"/>
                </a:highlight>
              </a:rPr>
              <a:t>en</a:t>
            </a:r>
            <a:r>
              <a:rPr lang="pt-BR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A3ACA6"/>
                </a:highlight>
              </a:rPr>
              <a:t> </a:t>
            </a:r>
            <a:r>
              <a:rPr lang="pt-BR" b="1" spc="-15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A3ACA6"/>
                </a:highlight>
              </a:rPr>
              <a:t>sustentabilidad</a:t>
            </a:r>
            <a:r>
              <a:rPr lang="pt-BR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A3ACA6"/>
                </a:highlight>
              </a:rPr>
              <a:t> y </a:t>
            </a:r>
            <a:r>
              <a:rPr lang="pt-BR" b="1" spc="-15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A3ACA6"/>
                </a:highlight>
              </a:rPr>
              <a:t>regeneración</a:t>
            </a:r>
            <a:endParaRPr lang="pt-BR" b="1" spc="-1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A3ACA6"/>
              </a:highlight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2DB24A9-27B0-1EE1-BE64-A0CED2E7FED5}"/>
              </a:ext>
            </a:extLst>
          </p:cNvPr>
          <p:cNvSpPr txBox="1"/>
          <p:nvPr/>
        </p:nvSpPr>
        <p:spPr>
          <a:xfrm>
            <a:off x="4524907" y="6400467"/>
            <a:ext cx="3243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chemeClr val="bg1"/>
                </a:solidFill>
              </a:rPr>
              <a:t>Inscríbete</a:t>
            </a:r>
            <a:r>
              <a:rPr lang="pt-BR" b="1" dirty="0">
                <a:solidFill>
                  <a:schemeClr val="bg1"/>
                </a:solidFill>
              </a:rPr>
              <a:t> - </a:t>
            </a:r>
            <a:r>
              <a:rPr lang="pt-BR" b="1" dirty="0" err="1">
                <a:solidFill>
                  <a:schemeClr val="bg1"/>
                </a:solidFill>
              </a:rPr>
              <a:t>Cupos</a:t>
            </a:r>
            <a:r>
              <a:rPr lang="pt-BR" b="1" dirty="0">
                <a:solidFill>
                  <a:schemeClr val="bg1"/>
                </a:solidFill>
              </a:rPr>
              <a:t> limitados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8E22501-CA26-F7B6-46ED-8ABD5A23CBB5}"/>
              </a:ext>
            </a:extLst>
          </p:cNvPr>
          <p:cNvSpPr txBox="1"/>
          <p:nvPr/>
        </p:nvSpPr>
        <p:spPr>
          <a:xfrm>
            <a:off x="3897087" y="5850367"/>
            <a:ext cx="4462001" cy="492443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Domingo 6 de </a:t>
            </a:r>
            <a:r>
              <a:rPr lang="pt-BR" sz="1400" dirty="0" err="1">
                <a:solidFill>
                  <a:schemeClr val="bg1"/>
                </a:solidFill>
              </a:rPr>
              <a:t>Septiembre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es-ES" sz="1400" dirty="0">
                <a:solidFill>
                  <a:schemeClr val="bg1"/>
                </a:solidFill>
              </a:rPr>
              <a:t>10:30 a 18:00 </a:t>
            </a:r>
            <a:r>
              <a:rPr lang="es-ES" sz="1400" dirty="0" err="1">
                <a:solidFill>
                  <a:schemeClr val="bg1"/>
                </a:solidFill>
              </a:rPr>
              <a:t>hrs</a:t>
            </a:r>
            <a:r>
              <a:rPr lang="es-ES" sz="1400" dirty="0">
                <a:solidFill>
                  <a:schemeClr val="bg1"/>
                </a:solidFill>
              </a:rPr>
              <a:t> (Talagante)</a:t>
            </a:r>
          </a:p>
          <a:p>
            <a:pPr algn="ctr"/>
            <a:r>
              <a:rPr lang="es-ES" sz="1200" dirty="0">
                <a:solidFill>
                  <a:schemeClr val="bg1"/>
                </a:solidFill>
              </a:rPr>
              <a:t>Día completo $13.000 incluye empanada + materiales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07D3F05-53CB-A822-5069-FBF6574959CD}"/>
              </a:ext>
            </a:extLst>
          </p:cNvPr>
          <p:cNvSpPr txBox="1"/>
          <p:nvPr/>
        </p:nvSpPr>
        <p:spPr>
          <a:xfrm>
            <a:off x="3625667" y="3528139"/>
            <a:ext cx="4922213" cy="1384995"/>
          </a:xfrm>
          <a:prstGeom prst="rect">
            <a:avLst/>
          </a:prstGeom>
          <a:solidFill>
            <a:srgbClr val="60A4E8">
              <a:alpha val="34902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pt-BR" sz="1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Mañana</a:t>
            </a:r>
            <a:r>
              <a:rPr lang="pt-B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(AM): </a:t>
            </a: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Visita guiada por </a:t>
            </a:r>
            <a:r>
              <a:rPr lang="pt-BR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</a:t>
            </a: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huerta</a:t>
            </a: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agroecológica, </a:t>
            </a:r>
            <a:r>
              <a:rPr lang="pt-BR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bioconstrucción</a:t>
            </a: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bosque </a:t>
            </a:r>
            <a:r>
              <a:rPr lang="pt-BR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comestible</a:t>
            </a: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pt-BR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tecnologías</a:t>
            </a: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resilientes de agua/</a:t>
            </a:r>
            <a:r>
              <a:rPr lang="pt-BR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energía</a:t>
            </a: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 </a:t>
            </a:r>
            <a:r>
              <a:rPr lang="pt-BR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compostaje</a:t>
            </a: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algn="ctr"/>
            <a:r>
              <a:rPr lang="pt-BR" sz="1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Almuerzo</a:t>
            </a:r>
            <a:r>
              <a:rPr lang="pt-B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Empanada </a:t>
            </a:r>
            <a:r>
              <a:rPr lang="pt-BR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base a plantas y </a:t>
            </a:r>
            <a:r>
              <a:rPr lang="pt-BR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bebestible</a:t>
            </a: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algn="ctr"/>
            <a:r>
              <a:rPr lang="pt-B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Tarde (PM): </a:t>
            </a:r>
            <a:r>
              <a:rPr lang="pt-BR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Taller</a:t>
            </a: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práctico</a:t>
            </a: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cultivo, </a:t>
            </a:r>
            <a:r>
              <a:rPr lang="pt-BR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sustratos</a:t>
            </a: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 </a:t>
            </a:r>
            <a:r>
              <a:rPr lang="pt-BR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semillas</a:t>
            </a: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pt-BR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incluye</a:t>
            </a: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siembra</a:t>
            </a: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tu </a:t>
            </a:r>
            <a:r>
              <a:rPr lang="pt-BR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propio</a:t>
            </a: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almácigo</a:t>
            </a: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+ Círculo de </a:t>
            </a:r>
            <a:r>
              <a:rPr lang="pt-BR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palabras</a:t>
            </a: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flautas </a:t>
            </a:r>
            <a:r>
              <a:rPr lang="pt-BR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</a:t>
            </a: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mundo y </a:t>
            </a:r>
            <a:r>
              <a:rPr lang="pt-BR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ceremonia</a:t>
            </a: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pt-BR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gratitud</a:t>
            </a: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E5B4D2C-FD58-1C34-A44C-6DBE241B21CC}"/>
              </a:ext>
            </a:extLst>
          </p:cNvPr>
          <p:cNvSpPr txBox="1"/>
          <p:nvPr/>
        </p:nvSpPr>
        <p:spPr>
          <a:xfrm>
            <a:off x="3688960" y="2913178"/>
            <a:ext cx="4915790" cy="584775"/>
          </a:xfrm>
          <a:prstGeom prst="rect">
            <a:avLst/>
          </a:prstGeom>
          <a:solidFill>
            <a:srgbClr val="A3ACA6">
              <a:alpha val="0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pt-BR" sz="1600" b="1" i="1" dirty="0"/>
              <a:t>Un </a:t>
            </a:r>
            <a:r>
              <a:rPr lang="pt-BR" sz="1600" b="1" i="1" dirty="0" err="1"/>
              <a:t>día</a:t>
            </a:r>
            <a:r>
              <a:rPr lang="pt-BR" sz="1600" b="1" i="1" dirty="0"/>
              <a:t> para </a:t>
            </a:r>
            <a:r>
              <a:rPr lang="pt-BR" sz="1600" b="1" i="1" dirty="0" err="1"/>
              <a:t>activar</a:t>
            </a:r>
            <a:r>
              <a:rPr lang="pt-BR" sz="1600" b="1" i="1" dirty="0"/>
              <a:t> tu </a:t>
            </a:r>
            <a:r>
              <a:rPr lang="pt-BR" sz="1600" b="1" i="1" dirty="0" err="1"/>
              <a:t>huerta</a:t>
            </a:r>
            <a:r>
              <a:rPr lang="pt-BR" sz="1600" b="1" i="1" dirty="0"/>
              <a:t>: </a:t>
            </a:r>
            <a:r>
              <a:rPr lang="pt-BR" sz="1600" b="1" i="1" dirty="0" err="1"/>
              <a:t>llévate</a:t>
            </a:r>
            <a:r>
              <a:rPr lang="pt-BR" sz="1600" b="1" i="1" dirty="0"/>
              <a:t> tu </a:t>
            </a:r>
            <a:r>
              <a:rPr lang="pt-BR" sz="1600" b="1" i="1" dirty="0" err="1"/>
              <a:t>almácigo</a:t>
            </a:r>
            <a:r>
              <a:rPr lang="pt-BR" sz="1600" b="1" i="1" dirty="0"/>
              <a:t> </a:t>
            </a:r>
            <a:r>
              <a:rPr lang="pt-BR" sz="1600" b="1" i="1" dirty="0" err="1"/>
              <a:t>sembrado</a:t>
            </a:r>
            <a:r>
              <a:rPr lang="pt-BR" sz="1600" b="1" i="1" dirty="0"/>
              <a:t> y </a:t>
            </a:r>
            <a:r>
              <a:rPr lang="pt-BR" sz="1600" b="1" i="1" dirty="0" err="1"/>
              <a:t>un</a:t>
            </a:r>
            <a:r>
              <a:rPr lang="pt-BR" sz="1600" b="1" i="1" dirty="0"/>
              <a:t> </a:t>
            </a:r>
            <a:r>
              <a:rPr lang="pt-BR" sz="1600" b="1" i="1" dirty="0" err="1"/>
              <a:t>plan</a:t>
            </a:r>
            <a:r>
              <a:rPr lang="pt-BR" sz="1600" b="1" i="1" dirty="0"/>
              <a:t> claro para cultivar.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3E913C5-4D97-8E43-68E4-9016C49AD775}"/>
              </a:ext>
            </a:extLst>
          </p:cNvPr>
          <p:cNvSpPr txBox="1"/>
          <p:nvPr/>
        </p:nvSpPr>
        <p:spPr>
          <a:xfrm>
            <a:off x="3672025" y="2918821"/>
            <a:ext cx="4915790" cy="584775"/>
          </a:xfrm>
          <a:prstGeom prst="rect">
            <a:avLst/>
          </a:prstGeom>
          <a:solidFill>
            <a:srgbClr val="A3ACA6">
              <a:alpha val="0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pt-BR" sz="1600" b="1" i="1" dirty="0">
                <a:solidFill>
                  <a:schemeClr val="bg1"/>
                </a:solidFill>
              </a:rPr>
              <a:t>Un </a:t>
            </a:r>
            <a:r>
              <a:rPr lang="pt-BR" sz="1600" b="1" i="1" dirty="0" err="1">
                <a:solidFill>
                  <a:schemeClr val="bg1"/>
                </a:solidFill>
              </a:rPr>
              <a:t>día</a:t>
            </a:r>
            <a:r>
              <a:rPr lang="pt-BR" sz="1600" b="1" i="1" dirty="0">
                <a:solidFill>
                  <a:schemeClr val="bg1"/>
                </a:solidFill>
              </a:rPr>
              <a:t> para </a:t>
            </a:r>
            <a:r>
              <a:rPr lang="pt-BR" sz="1600" b="1" i="1" dirty="0" err="1">
                <a:solidFill>
                  <a:schemeClr val="bg1"/>
                </a:solidFill>
              </a:rPr>
              <a:t>activar</a:t>
            </a:r>
            <a:r>
              <a:rPr lang="pt-BR" sz="1600" b="1" i="1" dirty="0">
                <a:solidFill>
                  <a:schemeClr val="bg1"/>
                </a:solidFill>
              </a:rPr>
              <a:t> tu </a:t>
            </a:r>
            <a:r>
              <a:rPr lang="pt-BR" sz="1600" b="1" i="1" dirty="0" err="1">
                <a:solidFill>
                  <a:schemeClr val="bg1"/>
                </a:solidFill>
              </a:rPr>
              <a:t>huerta</a:t>
            </a:r>
            <a:r>
              <a:rPr lang="pt-BR" sz="1600" b="1" i="1" dirty="0">
                <a:solidFill>
                  <a:schemeClr val="bg1"/>
                </a:solidFill>
              </a:rPr>
              <a:t>: </a:t>
            </a:r>
            <a:r>
              <a:rPr lang="pt-BR" sz="1600" b="1" i="1" dirty="0" err="1">
                <a:solidFill>
                  <a:schemeClr val="bg1"/>
                </a:solidFill>
              </a:rPr>
              <a:t>llévate</a:t>
            </a:r>
            <a:r>
              <a:rPr lang="pt-BR" sz="1600" b="1" i="1" dirty="0">
                <a:solidFill>
                  <a:schemeClr val="bg1"/>
                </a:solidFill>
              </a:rPr>
              <a:t> tu </a:t>
            </a:r>
            <a:r>
              <a:rPr lang="pt-BR" sz="1600" b="1" i="1" dirty="0" err="1">
                <a:solidFill>
                  <a:schemeClr val="bg1"/>
                </a:solidFill>
              </a:rPr>
              <a:t>almácigo</a:t>
            </a:r>
            <a:r>
              <a:rPr lang="pt-BR" sz="1600" b="1" i="1" dirty="0">
                <a:solidFill>
                  <a:schemeClr val="bg1"/>
                </a:solidFill>
              </a:rPr>
              <a:t> </a:t>
            </a:r>
            <a:r>
              <a:rPr lang="pt-BR" sz="1600" b="1" i="1" dirty="0" err="1">
                <a:solidFill>
                  <a:schemeClr val="bg1"/>
                </a:solidFill>
              </a:rPr>
              <a:t>sembrado</a:t>
            </a:r>
            <a:r>
              <a:rPr lang="pt-BR" sz="1600" b="1" i="1" dirty="0">
                <a:solidFill>
                  <a:schemeClr val="bg1"/>
                </a:solidFill>
              </a:rPr>
              <a:t> y </a:t>
            </a:r>
            <a:r>
              <a:rPr lang="pt-BR" sz="1600" b="1" i="1" dirty="0" err="1">
                <a:solidFill>
                  <a:schemeClr val="bg1"/>
                </a:solidFill>
              </a:rPr>
              <a:t>un</a:t>
            </a:r>
            <a:r>
              <a:rPr lang="pt-BR" sz="1600" b="1" i="1" dirty="0">
                <a:solidFill>
                  <a:schemeClr val="bg1"/>
                </a:solidFill>
              </a:rPr>
              <a:t> </a:t>
            </a:r>
            <a:r>
              <a:rPr lang="pt-BR" sz="1600" b="1" i="1" dirty="0" err="1">
                <a:solidFill>
                  <a:schemeClr val="bg1"/>
                </a:solidFill>
              </a:rPr>
              <a:t>plan</a:t>
            </a:r>
            <a:r>
              <a:rPr lang="pt-BR" sz="1600" b="1" i="1" dirty="0">
                <a:solidFill>
                  <a:schemeClr val="bg1"/>
                </a:solidFill>
              </a:rPr>
              <a:t> claro para cultivar.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19D1DDD-0843-AAF4-D849-6D850C367EA9}"/>
              </a:ext>
            </a:extLst>
          </p:cNvPr>
          <p:cNvSpPr txBox="1"/>
          <p:nvPr/>
        </p:nvSpPr>
        <p:spPr>
          <a:xfrm>
            <a:off x="3631310" y="3533782"/>
            <a:ext cx="4922213" cy="1384995"/>
          </a:xfrm>
          <a:prstGeom prst="rect">
            <a:avLst/>
          </a:prstGeom>
          <a:solidFill>
            <a:srgbClr val="60A4E8">
              <a:alpha val="34902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pt-BR" sz="1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Mañana</a:t>
            </a:r>
            <a:r>
              <a:rPr lang="pt-BR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(AM): 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Visita guiada por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huerta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agroecológica,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bioconstrucción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bosque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comestible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tecnologías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resilientes de agua/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energía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compostaje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algn="ctr"/>
            <a:r>
              <a:rPr lang="pt-BR" sz="1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Almuerzo</a:t>
            </a:r>
            <a:r>
              <a:rPr lang="pt-BR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Empanada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base a plantas y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bebestible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algn="ctr"/>
            <a:r>
              <a:rPr lang="pt-BR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Tarde (PM):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Taller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práctico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cultivo,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sustratos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semillas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incluye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siembra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tu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propio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almácigo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+ Círculo de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palabras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flautas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mundo y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ceremonia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pt-BR" sz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gratitud</a:t>
            </a:r>
            <a:r>
              <a:rPr lang="pt-B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E35BF29-ACB9-D013-C4EF-837F173C13FE}"/>
              </a:ext>
            </a:extLst>
          </p:cNvPr>
          <p:cNvSpPr txBox="1"/>
          <p:nvPr/>
        </p:nvSpPr>
        <p:spPr>
          <a:xfrm>
            <a:off x="3855380" y="1300701"/>
            <a:ext cx="45117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CULTIVA TU ALIMENTO</a:t>
            </a:r>
          </a:p>
        </p:txBody>
      </p:sp>
    </p:spTree>
    <p:extLst>
      <p:ext uri="{BB962C8B-B14F-4D97-AF65-F5344CB8AC3E}">
        <p14:creationId xmlns:p14="http://schemas.microsoft.com/office/powerpoint/2010/main" val="3613395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o 13">
            <a:extLst>
              <a:ext uri="{FF2B5EF4-FFF2-40B4-BE49-F238E27FC236}">
                <a16:creationId xmlns:a16="http://schemas.microsoft.com/office/drawing/2014/main" id="{DF38CEA8-349E-4E77-D1D6-F0CA33A4A0B7}"/>
              </a:ext>
            </a:extLst>
          </p:cNvPr>
          <p:cNvGrpSpPr/>
          <p:nvPr/>
        </p:nvGrpSpPr>
        <p:grpSpPr>
          <a:xfrm>
            <a:off x="3173789" y="2326302"/>
            <a:ext cx="7349069" cy="1748987"/>
            <a:chOff x="3173789" y="2326302"/>
            <a:chExt cx="7349069" cy="1748987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5E020390-94DA-5A1B-A22E-DDB50F4449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55" t="11495" r="47266" b="4395"/>
            <a:stretch>
              <a:fillRect/>
            </a:stretch>
          </p:blipFill>
          <p:spPr>
            <a:xfrm rot="5400000">
              <a:off x="5973830" y="-473739"/>
              <a:ext cx="1748987" cy="7349069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D5DA6C6E-224D-24EF-A6A2-A2FED0928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60782" y="2473208"/>
              <a:ext cx="1776033" cy="727588"/>
            </a:xfrm>
            <a:prstGeom prst="rect">
              <a:avLst/>
            </a:prstGeom>
          </p:spPr>
        </p:pic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C5008A34-3FDF-CF73-8CAD-601B78A36292}"/>
                </a:ext>
              </a:extLst>
            </p:cNvPr>
            <p:cNvSpPr txBox="1"/>
            <p:nvPr/>
          </p:nvSpPr>
          <p:spPr>
            <a:xfrm>
              <a:off x="7081986" y="3304554"/>
              <a:ext cx="325482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pt-BR" sz="1800" b="1" spc="-15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A3ACA6"/>
                  </a:highlight>
                </a:rPr>
                <a:t>Jornada intensiva </a:t>
              </a:r>
              <a:r>
                <a:rPr lang="pt-BR" sz="1800" b="1" spc="-150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A3ACA6"/>
                  </a:highlight>
                </a:rPr>
                <a:t>en</a:t>
              </a:r>
              <a:r>
                <a:rPr lang="pt-BR" sz="1800" b="1" spc="-15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A3ACA6"/>
                  </a:highlight>
                </a:rPr>
                <a:t> </a:t>
              </a:r>
              <a:r>
                <a:rPr lang="pt-BR" sz="1800" b="1" spc="-150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A3ACA6"/>
                  </a:highlight>
                </a:rPr>
                <a:t>sustentabilidad</a:t>
              </a:r>
              <a:r>
                <a:rPr lang="pt-BR" sz="1800" b="1" spc="-15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A3ACA6"/>
                  </a:highlight>
                </a:rPr>
                <a:t> y </a:t>
              </a:r>
              <a:r>
                <a:rPr lang="pt-BR" sz="1800" b="1" spc="-150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A3ACA6"/>
                  </a:highlight>
                </a:rPr>
                <a:t>regeneración</a:t>
              </a:r>
              <a:endParaRPr lang="pt-BR" sz="1800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A3ACA6"/>
                </a:highlight>
              </a:endParaRP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F1C65547-F5CD-015A-82E6-44F7892E1F2D}"/>
                </a:ext>
              </a:extLst>
            </p:cNvPr>
            <p:cNvSpPr txBox="1"/>
            <p:nvPr/>
          </p:nvSpPr>
          <p:spPr>
            <a:xfrm>
              <a:off x="3644991" y="2473208"/>
              <a:ext cx="4915791" cy="1446550"/>
            </a:xfrm>
            <a:prstGeom prst="rect">
              <a:avLst/>
            </a:prstGeom>
            <a:solidFill>
              <a:srgbClr val="A3ACA6">
                <a:alpha val="14118"/>
              </a:srgbClr>
            </a:solidFill>
          </p:spPr>
          <p:txBody>
            <a:bodyPr wrap="square">
              <a:spAutoFit/>
            </a:bodyPr>
            <a:lstStyle/>
            <a:p>
              <a:r>
                <a:rPr lang="pt-BR" sz="4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CULTIVA TU ALIMENTO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49253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563</Words>
  <Application>Microsoft Office PowerPoint</Application>
  <PresentationFormat>Panorámica</PresentationFormat>
  <Paragraphs>45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 Mason</dc:creator>
  <cp:lastModifiedBy>Francis Mason</cp:lastModifiedBy>
  <cp:revision>2</cp:revision>
  <dcterms:created xsi:type="dcterms:W3CDTF">2026-08-24T13:44:59Z</dcterms:created>
  <dcterms:modified xsi:type="dcterms:W3CDTF">2026-08-25T00:04:50Z</dcterms:modified>
</cp:coreProperties>
</file>